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7" r:id="rId9"/>
    <p:sldId id="262" r:id="rId10"/>
    <p:sldId id="268" r:id="rId11"/>
    <p:sldId id="263" r:id="rId12"/>
    <p:sldId id="264" r:id="rId13"/>
    <p:sldId id="269" r:id="rId14"/>
    <p:sldId id="270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A09300-1085-485F-B7A8-F7B43076A10A}" v="3" dt="2026-07-03T15:00:29.6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91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733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va sai" userId="c6b3428c92ed1110" providerId="LiveId" clId="{265490F5-963C-4E4E-8BD9-95CEFD167685}"/>
    <pc:docChg chg="custSel modSld">
      <pc:chgData name="Shiva sai" userId="c6b3428c92ed1110" providerId="LiveId" clId="{265490F5-963C-4E4E-8BD9-95CEFD167685}" dt="2026-07-03T15:00:58.873" v="43" actId="2711"/>
      <pc:docMkLst>
        <pc:docMk/>
      </pc:docMkLst>
      <pc:sldChg chg="addSp delSp mod">
        <pc:chgData name="Shiva sai" userId="c6b3428c92ed1110" providerId="LiveId" clId="{265490F5-963C-4E4E-8BD9-95CEFD167685}" dt="2026-07-03T14:59:39.878" v="15" actId="478"/>
        <pc:sldMkLst>
          <pc:docMk/>
          <pc:sldMk cId="0" sldId="260"/>
        </pc:sldMkLst>
        <pc:spChg chg="add del">
          <ac:chgData name="Shiva sai" userId="c6b3428c92ed1110" providerId="LiveId" clId="{265490F5-963C-4E4E-8BD9-95CEFD167685}" dt="2026-07-03T14:59:39.878" v="15" actId="478"/>
          <ac:spMkLst>
            <pc:docMk/>
            <pc:sldMk cId="0" sldId="260"/>
            <ac:spMk id="4" creationId="{94B4669A-7986-7B90-52FF-CCF6E446ED0B}"/>
          </ac:spMkLst>
        </pc:spChg>
      </pc:sldChg>
      <pc:sldChg chg="addSp modSp mod">
        <pc:chgData name="Shiva sai" userId="c6b3428c92ed1110" providerId="LiveId" clId="{265490F5-963C-4E4E-8BD9-95CEFD167685}" dt="2026-07-03T14:59:16.141" v="13" actId="5793"/>
        <pc:sldMkLst>
          <pc:docMk/>
          <pc:sldMk cId="3528744500" sldId="266"/>
        </pc:sldMkLst>
        <pc:spChg chg="add mod">
          <ac:chgData name="Shiva sai" userId="c6b3428c92ed1110" providerId="LiveId" clId="{265490F5-963C-4E4E-8BD9-95CEFD167685}" dt="2026-07-03T14:59:16.141" v="13" actId="5793"/>
          <ac:spMkLst>
            <pc:docMk/>
            <pc:sldMk cId="3528744500" sldId="266"/>
            <ac:spMk id="3" creationId="{2DDC4C49-E8AB-808E-1521-4DC0EB0F36C2}"/>
          </ac:spMkLst>
        </pc:spChg>
      </pc:sldChg>
      <pc:sldChg chg="addSp modSp mod">
        <pc:chgData name="Shiva sai" userId="c6b3428c92ed1110" providerId="LiveId" clId="{265490F5-963C-4E4E-8BD9-95CEFD167685}" dt="2026-07-03T15:00:16.042" v="29" actId="2711"/>
        <pc:sldMkLst>
          <pc:docMk/>
          <pc:sldMk cId="2454525174" sldId="267"/>
        </pc:sldMkLst>
        <pc:spChg chg="add mod">
          <ac:chgData name="Shiva sai" userId="c6b3428c92ed1110" providerId="LiveId" clId="{265490F5-963C-4E4E-8BD9-95CEFD167685}" dt="2026-07-03T15:00:16.042" v="29" actId="2711"/>
          <ac:spMkLst>
            <pc:docMk/>
            <pc:sldMk cId="2454525174" sldId="267"/>
            <ac:spMk id="3" creationId="{47550563-EFF0-C463-44E7-1ACED794B117}"/>
          </ac:spMkLst>
        </pc:spChg>
      </pc:sldChg>
      <pc:sldChg chg="addSp modSp mod">
        <pc:chgData name="Shiva sai" userId="c6b3428c92ed1110" providerId="LiveId" clId="{265490F5-963C-4E4E-8BD9-95CEFD167685}" dt="2026-07-03T15:00:58.873" v="43" actId="2711"/>
        <pc:sldMkLst>
          <pc:docMk/>
          <pc:sldMk cId="1411216619" sldId="268"/>
        </pc:sldMkLst>
        <pc:spChg chg="add mod">
          <ac:chgData name="Shiva sai" userId="c6b3428c92ed1110" providerId="LiveId" clId="{265490F5-963C-4E4E-8BD9-95CEFD167685}" dt="2026-07-03T15:00:58.873" v="43" actId="2711"/>
          <ac:spMkLst>
            <pc:docMk/>
            <pc:sldMk cId="1411216619" sldId="268"/>
            <ac:spMk id="3" creationId="{576A07B2-4FD6-60DA-666D-CAFE44B56D7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CA8FFF-16B5-4CC0-9F5D-268308DB369C}" type="datetimeFigureOut">
              <a:rPr lang="en-IN" smtClean="0"/>
              <a:t>03-07-2026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EC07ED-F462-4714-8EBE-E07C999B5C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360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7714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3214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5988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7457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289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681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482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1695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918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961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0023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554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59742" y="2883654"/>
            <a:ext cx="7944465" cy="589936"/>
          </a:xfrm>
        </p:spPr>
        <p:txBody>
          <a:bodyPr>
            <a:normAutofit/>
          </a:bodyPr>
          <a:lstStyle/>
          <a:p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Resources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59742" y="3679378"/>
            <a:ext cx="5618515" cy="1866016"/>
          </a:xfrm>
        </p:spPr>
        <p:txBody>
          <a:bodyPr>
            <a:no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 Used: Power BI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to: Ashish Rajput Sir(Mentor)</a:t>
            </a:r>
          </a:p>
          <a:p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 N. Shiva Sai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474839"/>
            <a:ext cx="6571343" cy="378916"/>
          </a:xfrm>
        </p:spPr>
        <p:txBody>
          <a:bodyPr>
            <a:norm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workforce composition, attrition, performance, satisfaction, and career growth using Power BI.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391653"/>
            <a:ext cx="6571343" cy="462101"/>
          </a:xfrm>
        </p:spPr>
        <p:txBody>
          <a:bodyPr>
            <a:norm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Understand Workforce</a:t>
            </a:r>
          </a:p>
          <a:p>
            <a:pPr mar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Monitor Retention</a:t>
            </a:r>
          </a:p>
          <a:p>
            <a:pPr mar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Evaluate Performance</a:t>
            </a:r>
          </a:p>
          <a:p>
            <a:pPr mar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Analyze Career Growth</a:t>
            </a:r>
          </a:p>
          <a:p>
            <a:pPr marL="0" indent="0">
              <a:buNone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Identify Workforce Challenges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391654"/>
            <a:ext cx="6571343" cy="462101"/>
          </a:xfrm>
        </p:spPr>
        <p:txBody>
          <a:bodyPr>
            <a:norm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Sources: CSV, Excel, MySQL</a:t>
            </a:r>
          </a:p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Cleaning: Missing values, duplicates, datatype corrections, Power Query transformations.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01" y="1391654"/>
            <a:ext cx="7700509" cy="462101"/>
          </a:xfrm>
        </p:spPr>
        <p:txBody>
          <a:bodyPr>
            <a:norm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1: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Current Workforce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8B7517-FA86-E911-DF63-0AEA3AE0C2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1670" y="2019103"/>
            <a:ext cx="2762636" cy="27531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671B11-D2B6-7EE9-7D41-259A64957574}"/>
              </a:ext>
            </a:extLst>
          </p:cNvPr>
          <p:cNvSpPr txBox="1"/>
          <p:nvPr/>
        </p:nvSpPr>
        <p:spPr>
          <a:xfrm>
            <a:off x="2961670" y="4964408"/>
            <a:ext cx="27626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&amp; Development contains the largest share of employees.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F540C7-06CA-E936-CF14-8C58B09DE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081" y="2019103"/>
            <a:ext cx="2772162" cy="27458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DDF94C4-67DE-D910-3EF3-41A742C0F0B5}"/>
              </a:ext>
            </a:extLst>
          </p:cNvPr>
          <p:cNvSpPr txBox="1"/>
          <p:nvPr/>
        </p:nvSpPr>
        <p:spPr>
          <a:xfrm>
            <a:off x="6010974" y="4927677"/>
            <a:ext cx="27626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workforce shows a reasonable level of gender diversity with opportunities for further balance.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C691B85-9B49-8307-930A-EC698778B1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985" y="2066735"/>
            <a:ext cx="1810003" cy="136226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B57B55F-FADB-18CD-DBFE-074E2B778634}"/>
              </a:ext>
            </a:extLst>
          </p:cNvPr>
          <p:cNvSpPr txBox="1"/>
          <p:nvPr/>
        </p:nvSpPr>
        <p:spPr>
          <a:xfrm>
            <a:off x="835743" y="3687097"/>
            <a:ext cx="17112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organization currently employs 1K+ employees.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38839-F7C8-1D31-0A18-FA9A1D875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DC119D7-0394-7202-15C8-0AF436CDFE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3491" y="2089189"/>
            <a:ext cx="2838846" cy="27286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49848E-D30D-04D9-57FB-CE8AFD19A7BB}"/>
              </a:ext>
            </a:extLst>
          </p:cNvPr>
          <p:cNvSpPr txBox="1"/>
          <p:nvPr/>
        </p:nvSpPr>
        <p:spPr>
          <a:xfrm>
            <a:off x="1443491" y="5053240"/>
            <a:ext cx="29416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roles form the backbone of the organization's operations and growth.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115233-173D-A300-DE88-254501FDF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8356" y="2089189"/>
            <a:ext cx="2886478" cy="27286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EA0BC4-E748-2D92-822C-3CCDB2141A14}"/>
              </a:ext>
            </a:extLst>
          </p:cNvPr>
          <p:cNvSpPr txBox="1"/>
          <p:nvPr/>
        </p:nvSpPr>
        <p:spPr>
          <a:xfrm>
            <a:off x="5211097" y="5053240"/>
            <a:ext cx="280373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employees are in their productive and experienced career stage.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DC4C49-E8AB-808E-1521-4DC0EB0F36C2}"/>
              </a:ext>
            </a:extLst>
          </p:cNvPr>
          <p:cNvSpPr txBox="1"/>
          <p:nvPr/>
        </p:nvSpPr>
        <p:spPr>
          <a:xfrm>
            <a:off x="216310" y="167148"/>
            <a:ext cx="1543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Continue…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744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41988"/>
            <a:ext cx="9062977" cy="569518"/>
          </a:xfrm>
        </p:spPr>
        <p:txBody>
          <a:bodyPr>
            <a:no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2: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Employee Retention and Workforce 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Stability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64AA86-B3C5-E0B4-26BE-322EF19697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7385" y="2190577"/>
            <a:ext cx="1886213" cy="12384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7F1A0E-AE37-A80F-41ED-C963E2B56C19}"/>
              </a:ext>
            </a:extLst>
          </p:cNvPr>
          <p:cNvSpPr txBox="1"/>
          <p:nvPr/>
        </p:nvSpPr>
        <p:spPr>
          <a:xfrm>
            <a:off x="127322" y="3808071"/>
            <a:ext cx="2986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turnover exists and requires attention to improve retention.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8A12E4-AEF8-5B1A-3E93-F6FDFCC59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610" y="2049501"/>
            <a:ext cx="3439005" cy="22863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03D73E-B8F6-A12F-27B7-C6804F5DDC93}"/>
              </a:ext>
            </a:extLst>
          </p:cNvPr>
          <p:cNvSpPr txBox="1"/>
          <p:nvPr/>
        </p:nvSpPr>
        <p:spPr>
          <a:xfrm>
            <a:off x="4968588" y="4500568"/>
            <a:ext cx="33153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Despite being the largest department, R&amp;D faces notable employee turnover challenges.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472E2-3680-39F1-5391-F6AE05E73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FA6ABA-0EF7-896F-A419-C89DB0422E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903" y="2082050"/>
            <a:ext cx="4806368" cy="23148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CB8CCA-B0C4-1667-FC1F-8AF5216730B6}"/>
              </a:ext>
            </a:extLst>
          </p:cNvPr>
          <p:cNvSpPr txBox="1"/>
          <p:nvPr/>
        </p:nvSpPr>
        <p:spPr>
          <a:xfrm>
            <a:off x="206477" y="4660490"/>
            <a:ext cx="4847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employees are more likely to leave, indicating a need for better retention strategies.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275097-71D6-AC71-6122-CE88C6898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791" y="2082050"/>
            <a:ext cx="2743583" cy="19243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EDC1A22-B38F-B672-D7A0-DBB81C00D026}"/>
              </a:ext>
            </a:extLst>
          </p:cNvPr>
          <p:cNvSpPr txBox="1"/>
          <p:nvPr/>
        </p:nvSpPr>
        <p:spPr>
          <a:xfrm>
            <a:off x="5943791" y="4660490"/>
            <a:ext cx="27435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Excessive workload may be contributing to employee turnover.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550563-EFF0-C463-44E7-1ACED794B117}"/>
              </a:ext>
            </a:extLst>
          </p:cNvPr>
          <p:cNvSpPr txBox="1"/>
          <p:nvPr/>
        </p:nvSpPr>
        <p:spPr>
          <a:xfrm>
            <a:off x="335903" y="206477"/>
            <a:ext cx="1502729" cy="369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Continue…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525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1262589"/>
            <a:ext cx="9051402" cy="587618"/>
          </a:xfrm>
        </p:spPr>
        <p:txBody>
          <a:bodyPr>
            <a:no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3: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Employee Performance and Workplace 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Experience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BA2339-9100-E546-F871-37E81EBAB3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4826" y="2313744"/>
            <a:ext cx="2019582" cy="13432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976A00-CA8E-36F0-9573-BB9A4A41E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613" y="2313744"/>
            <a:ext cx="2029108" cy="12479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A5A94EC-536A-89A7-D85B-4BA79F274639}"/>
              </a:ext>
            </a:extLst>
          </p:cNvPr>
          <p:cNvSpPr txBox="1"/>
          <p:nvPr/>
        </p:nvSpPr>
        <p:spPr>
          <a:xfrm>
            <a:off x="1774826" y="3796497"/>
            <a:ext cx="19405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room to improve employee engagement and workplace experience.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49ADF1-7564-B9B1-B2D1-475872D88CBA}"/>
              </a:ext>
            </a:extLst>
          </p:cNvPr>
          <p:cNvSpPr txBox="1"/>
          <p:nvPr/>
        </p:nvSpPr>
        <p:spPr>
          <a:xfrm>
            <a:off x="5675613" y="3784922"/>
            <a:ext cx="22204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Employees are performing well and contributing positively to organizational goals.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2D1C0-1E18-0527-D4EC-61892B686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.</a:t>
            </a:r>
            <a:endParaRPr lang="en-IN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1007FAB-50F6-1EB5-3433-FB91903D34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2079" y="2041688"/>
            <a:ext cx="2991267" cy="27746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2C33F4-8522-3E4B-C178-A298B304530F}"/>
              </a:ext>
            </a:extLst>
          </p:cNvPr>
          <p:cNvSpPr txBox="1"/>
          <p:nvPr/>
        </p:nvSpPr>
        <p:spPr>
          <a:xfrm>
            <a:off x="634107" y="4998457"/>
            <a:ext cx="32872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Satisfied employees tend to be more productive and engaged.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932371-B412-BA48-7CE8-AB12CD2F2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949" y="2193430"/>
            <a:ext cx="4334362" cy="217200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7E1D652-E7B8-A0C2-3870-3F43C16BE426}"/>
              </a:ext>
            </a:extLst>
          </p:cNvPr>
          <p:cNvSpPr txBox="1"/>
          <p:nvPr/>
        </p:nvSpPr>
        <p:spPr>
          <a:xfrm>
            <a:off x="4572000" y="4816311"/>
            <a:ext cx="4155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and organizational knowledge contribute to stronger performance.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6A07B2-4FD6-60DA-666D-CAFE44B56D72}"/>
              </a:ext>
            </a:extLst>
          </p:cNvPr>
          <p:cNvSpPr txBox="1"/>
          <p:nvPr/>
        </p:nvSpPr>
        <p:spPr>
          <a:xfrm>
            <a:off x="334297" y="285135"/>
            <a:ext cx="1779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Continue…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1216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132" y="1264332"/>
            <a:ext cx="8715736" cy="576043"/>
          </a:xfrm>
        </p:spPr>
        <p:txBody>
          <a:bodyPr>
            <a:no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4: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Employee Development and Career 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Growth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8DD65E-820A-62AC-2CD5-7E32CA04C4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132" y="2097603"/>
            <a:ext cx="4239217" cy="31246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EC52A3-041B-B69A-4D8C-27F27A7C69FA}"/>
              </a:ext>
            </a:extLst>
          </p:cNvPr>
          <p:cNvSpPr txBox="1"/>
          <p:nvPr/>
        </p:nvSpPr>
        <p:spPr>
          <a:xfrm>
            <a:off x="214131" y="5347504"/>
            <a:ext cx="42392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organization has a stable workforce with a balanced experience level.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B5856F-421D-1F51-1038-B566B6DB0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654" y="2097603"/>
            <a:ext cx="4239214" cy="31246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60DA5BB-D9D0-6439-8EB4-6F321FEF62BE}"/>
              </a:ext>
            </a:extLst>
          </p:cNvPr>
          <p:cNvSpPr txBox="1"/>
          <p:nvPr/>
        </p:nvSpPr>
        <p:spPr>
          <a:xfrm>
            <a:off x="4803494" y="5347504"/>
            <a:ext cx="40164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 growth appears to increase as employees gain more experience.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148" y="1248697"/>
            <a:ext cx="8780207" cy="605058"/>
          </a:xfrm>
        </p:spPr>
        <p:txBody>
          <a:bodyPr>
            <a:no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5: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Key Workforce Challenges AND  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OPPORTUNITIES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E0EE544-2ED3-08EF-F63F-B7DE5DF57A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9656" y="2077718"/>
            <a:ext cx="5188329" cy="34496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2BC1A8-6FCF-2569-6367-25FB0A2AD1AF}"/>
              </a:ext>
            </a:extLst>
          </p:cNvPr>
          <p:cNvSpPr txBox="1"/>
          <p:nvPr/>
        </p:nvSpPr>
        <p:spPr>
          <a:xfrm>
            <a:off x="6123008" y="3217762"/>
            <a:ext cx="2743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Workload, employee happiness, and pay are key factors influencing retention.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C05A8-4471-36C7-1101-F51EF23AD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491" y="1391654"/>
            <a:ext cx="6571343" cy="462101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&amp;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61BE3-2BDF-74D6-A596-C8DCA0801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Issues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a One-Page Interactive Dashboard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Meaningful KPIs and DAX Measures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Historical Data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Dataset Scope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0258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7BCD8-2DDE-C07E-B626-30912C679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491" y="1391654"/>
            <a:ext cx="6571343" cy="462101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EE0FF-62F8-E855-14F9-3676538DA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Workforce Analysis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Retention Insights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and Engagement Assessment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 Growth and Development Analysis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Business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9681312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391654"/>
            <a:ext cx="6571343" cy="462101"/>
          </a:xfrm>
        </p:spPr>
        <p:txBody>
          <a:bodyPr>
            <a:normAutofit/>
          </a:bodyPr>
          <a:lstStyle/>
          <a:p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engagement, reduce overtime, strengthen training, support career growth, and focus on high-risk employee groups.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247</TotalTime>
  <Words>401</Words>
  <Application>Microsoft Office PowerPoint</Application>
  <PresentationFormat>On-screen Show (4:3)</PresentationFormat>
  <Paragraphs>58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Gill Sans MT</vt:lpstr>
      <vt:lpstr>Times New Roman</vt:lpstr>
      <vt:lpstr>Gallery</vt:lpstr>
      <vt:lpstr>Human Resources Analytics</vt:lpstr>
      <vt:lpstr>Project Overview</vt:lpstr>
      <vt:lpstr>Business Objectives</vt:lpstr>
      <vt:lpstr>Dataset &amp; Data Preparation</vt:lpstr>
      <vt:lpstr>Objective 1: Understand the Current Workforce</vt:lpstr>
      <vt:lpstr>.</vt:lpstr>
      <vt:lpstr>Objective 2: Monitor Employee Retention and Workforce                             Stability</vt:lpstr>
      <vt:lpstr>.</vt:lpstr>
      <vt:lpstr>Objective 3: Evaluate Employee Performance and Workplace                             Experience </vt:lpstr>
      <vt:lpstr>.</vt:lpstr>
      <vt:lpstr>Objective 4: Analyze Employee Development and Career                            Growth</vt:lpstr>
      <vt:lpstr>Objective 5:Identify Key Workforce Challenges AND                            OPPORTUNITIES</vt:lpstr>
      <vt:lpstr>LIMITATIONS &amp; cHALLENGES</vt:lpstr>
      <vt:lpstr>SUMMARY</vt:lpstr>
      <vt:lpstr>Conclusion &amp;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Shiva sai</cp:lastModifiedBy>
  <cp:revision>4</cp:revision>
  <dcterms:created xsi:type="dcterms:W3CDTF">2013-01-27T09:14:16Z</dcterms:created>
  <dcterms:modified xsi:type="dcterms:W3CDTF">2026-07-03T15:01:07Z</dcterms:modified>
  <cp:category/>
</cp:coreProperties>
</file>